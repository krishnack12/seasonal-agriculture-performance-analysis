
<file path=[Content_Types].xml><?xml version="1.0" encoding="utf-8"?>
<Types xmlns="http://schemas.openxmlformats.org/package/2006/content-types">
  <Default Extension="xml" ContentType="application/xml"/>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8"/>
  </p:handoutMasterIdLst>
  <p:sldIdLst>
    <p:sldId id="338" r:id="rId3"/>
    <p:sldId id="327" r:id="rId4"/>
    <p:sldId id="315" r:id="rId5"/>
    <p:sldId id="329" r:id="rId6"/>
    <p:sldId id="302" r:id="rId7"/>
    <p:sldId id="339" r:id="rId9"/>
    <p:sldId id="340" r:id="rId10"/>
    <p:sldId id="344" r:id="rId11"/>
    <p:sldId id="345" r:id="rId12"/>
    <p:sldId id="346" r:id="rId13"/>
    <p:sldId id="341" r:id="rId14"/>
    <p:sldId id="342" r:id="rId15"/>
    <p:sldId id="343" r:id="rId16"/>
    <p:sldId id="304" r:id="rId17"/>
  </p:sldIdLst>
  <p:sldSz cx="12192000" cy="6858000"/>
  <p:notesSz cx="6858000" cy="9144000"/>
  <p:custDataLst>
    <p:tags r:id="rId2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26"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82" d="100"/>
          <a:sy n="82" d="100"/>
        </p:scale>
        <p:origin x="624" y="72"/>
      </p:cViewPr>
      <p:guideLst>
        <p:guide orient="horz" pos="1968"/>
        <p:guide pos="426"/>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17.xml"/><Relationship Id="rId24" Type="http://schemas.openxmlformats.org/officeDocument/2006/relationships/customXml" Target="../customXml/item3.xml"/><Relationship Id="rId23" Type="http://schemas.openxmlformats.org/officeDocument/2006/relationships/customXml" Target="../customXml/item2.xml"/><Relationship Id="rId22" Type="http://schemas.openxmlformats.org/officeDocument/2006/relationships/customXml" Target="../customXml/item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7.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19.xml"/><Relationship Id="rId7" Type="http://schemas.openxmlformats.org/officeDocument/2006/relationships/image" Target="../media/image10.png"/><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tags" Target="../tags/tag1.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9.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tags" Target="../tags/tag4.xml"/><Relationship Id="rId2" Type="http://schemas.openxmlformats.org/officeDocument/2006/relationships/image" Target="../media/image11.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2.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tags" Target="../tags/tag7.xml"/><Relationship Id="rId10" Type="http://schemas.openxmlformats.org/officeDocument/2006/relationships/slideLayout" Target="../slideLayouts/slideLayout19.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tags" Target="../tags/tag13.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9.xml"/><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8180" y="2844800"/>
            <a:ext cx="10862310" cy="743585"/>
          </a:xfrm>
        </p:spPr>
        <p:txBody>
          <a:bodyPr>
            <a:normAutofit/>
          </a:bodyPr>
          <a:lstStyle/>
          <a:p>
            <a:r>
              <a:rPr lang="en-GB" dirty="0"/>
              <a:t>Project Title</a:t>
            </a:r>
            <a:r>
              <a:rPr lang="en-GB" sz="3200" dirty="0"/>
              <a:t> -</a:t>
            </a:r>
            <a:r>
              <a:rPr lang="en-US" altLang="en-GB" sz="3200" dirty="0"/>
              <a:t> </a:t>
            </a:r>
            <a:r>
              <a:rPr lang="en-US" altLang="en-US" sz="3200" dirty="0"/>
              <a:t> </a:t>
            </a:r>
            <a:r>
              <a:rPr lang="en-US" altLang="en-US" dirty="0"/>
              <a:t>Seasonal Agriculture Performance Analysis </a:t>
            </a:r>
            <a:endParaRPr lang="en-US" altLang="en-US" dirty="0"/>
          </a:p>
        </p:txBody>
      </p:sp>
      <p:sp>
        <p:nvSpPr>
          <p:cNvPr id="15"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3" name="TextBox 2"/>
          <p:cNvSpPr txBox="1"/>
          <p:nvPr/>
        </p:nvSpPr>
        <p:spPr>
          <a:xfrm>
            <a:off x="890270" y="4576445"/>
            <a:ext cx="6474460" cy="368300"/>
          </a:xfrm>
          <a:prstGeom prst="rect">
            <a:avLst/>
          </a:prstGeom>
          <a:noFill/>
        </p:spPr>
        <p:txBody>
          <a:bodyPr wrap="square" rtlCol="0">
            <a:spAutoFit/>
          </a:bodyPr>
          <a:lstStyle/>
          <a:p>
            <a:r>
              <a:rPr lang="en-US" b="1" dirty="0"/>
              <a:t>AICTE STU ID :</a:t>
            </a:r>
            <a:r>
              <a:rPr lang="en-US" altLang="en-US" b="1" dirty="0"/>
              <a:t> STU676c2dd485cba1735142868</a:t>
            </a:r>
            <a:endParaRPr lang="en-US" altLang="en-US" b="1" dirty="0"/>
          </a:p>
        </p:txBody>
      </p:sp>
      <p:sp>
        <p:nvSpPr>
          <p:cNvPr id="5" name="Text Placeholder 4"/>
          <p:cNvSpPr/>
          <p:nvPr>
            <p:ph type="body" sz="quarter" idx="11"/>
          </p:nvPr>
        </p:nvSpPr>
        <p:spPr>
          <a:xfrm>
            <a:off x="763270" y="3588385"/>
            <a:ext cx="9230360" cy="861695"/>
          </a:xfrm>
        </p:spPr>
        <p:txBody>
          <a:bodyPr/>
          <a:p>
            <a:r>
              <a:rPr lang="en-US"/>
              <a:t> </a:t>
            </a:r>
            <a:r>
              <a:rPr lang="en-US" b="0">
                <a:solidFill>
                  <a:schemeClr val="tx1"/>
                </a:solidFill>
              </a:rPr>
              <a:t>Name : Krishna Chakraborty</a:t>
            </a:r>
            <a:endParaRPr lang="en-US" b="0">
              <a:solidFill>
                <a:schemeClr val="tx1"/>
              </a:solidFill>
            </a:endParaRPr>
          </a:p>
          <a:p>
            <a:r>
              <a:rPr lang="en-US" b="0">
                <a:solidFill>
                  <a:schemeClr val="tx1"/>
                </a:solidFill>
              </a:rPr>
              <a:t> collage name: Techno India University Tripura</a:t>
            </a:r>
            <a:endParaRPr lang="en-US" b="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539115" y="1691005"/>
            <a:ext cx="7077710" cy="3906520"/>
          </a:xfrm>
        </p:spPr>
        <p:txBody>
          <a:bodyPr vert="horz" lIns="91440" tIns="45720" rIns="91440" bIns="45720" rtlCol="0" anchor="t">
            <a:normAutofit fontScale="70000"/>
          </a:bodyPr>
          <a:lstStyle/>
          <a:p>
            <a:pPr>
              <a:lnSpc>
                <a:spcPct val="100000"/>
              </a:lnSpc>
            </a:pPr>
            <a:r>
              <a:rPr lang="en-US" alt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US" altLang="en-US" sz="2800" dirty="0"/>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75639" y="353093"/>
            <a:ext cx="6276109" cy="830997"/>
          </a:xfrm>
        </p:spPr>
        <p:txBody>
          <a:bodyPr>
            <a:normAutofit fontScale="90000"/>
          </a:bodyPr>
          <a:lstStyle/>
          <a:p>
            <a:r>
              <a:rPr lang="en-GB" dirty="0"/>
              <a:t>Project Description</a:t>
            </a:r>
            <a:br>
              <a:rPr lang="en-GB" dirty="0"/>
            </a:br>
            <a:br>
              <a:rPr lang="en-GB" dirty="0"/>
            </a:br>
            <a:r>
              <a:rPr lang="en-US" altLang="en-US" sz="2220" b="0" dirty="0"/>
              <a:t>The Seasonal Agriculture Performance Analysis project focuses on analyzing agricultural data across different seasons, regions, and farming conditions. The project examines factors such as crop production, resource usage, environmental conditions, and economic performance to understand how they vary across seasons.</a:t>
            </a:r>
            <a:br>
              <a:rPr lang="en-US" altLang="en-US" sz="2220" b="0" dirty="0"/>
            </a:br>
            <a:r>
              <a:rPr lang="en-US" altLang="en-US" sz="2220" b="0" dirty="0"/>
              <a:t>Using data cleaning, exploratory data analysis, statistical techniques, and visualization, the project identifies important seasonal trends, patterns, relationships, and variations in agricultural performance. The analysis helps generate data-driven insights and recommendations that can support better understanding, planning, and decision-making in seasonal agriculture.</a:t>
            </a:r>
            <a:endParaRPr lang="en-US" altLang="en-US" sz="222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82320" y="1574800"/>
            <a:ext cx="8289925" cy="4020185"/>
          </a:xfrm>
        </p:spPr>
        <p:txBody>
          <a:bodyPr>
            <a:noAutofit/>
          </a:bodyPr>
          <a:lstStyle/>
          <a:p>
            <a:pPr algn="just">
              <a:lnSpc>
                <a:spcPct val="150000"/>
              </a:lnSpc>
            </a:pPr>
            <a:r>
              <a:rPr lang="en-US" altLang="en-US" dirty="0"/>
              <a:t>Farmers </a:t>
            </a:r>
            <a:endParaRPr lang="en-US" altLang="en-US" dirty="0"/>
          </a:p>
          <a:p>
            <a:pPr algn="just">
              <a:lnSpc>
                <a:spcPct val="150000"/>
              </a:lnSpc>
            </a:pPr>
            <a:r>
              <a:rPr lang="en-US" altLang="en-US" dirty="0"/>
              <a:t>Agricultural Policy Makers / Government Bodies</a:t>
            </a:r>
            <a:endParaRPr lang="en-US" altLang="en-US" dirty="0"/>
          </a:p>
          <a:p>
            <a:pPr algn="just">
              <a:lnSpc>
                <a:spcPct val="150000"/>
              </a:lnSpc>
            </a:pPr>
            <a:r>
              <a:rPr lang="en-US" altLang="en-US" dirty="0"/>
              <a:t>Agricultural Researchers and Scientists </a:t>
            </a:r>
            <a:endParaRPr lang="en-US" altLang="en-US" dirty="0"/>
          </a:p>
          <a:p>
            <a:pPr algn="just">
              <a:lnSpc>
                <a:spcPct val="150000"/>
              </a:lnSpc>
            </a:pPr>
            <a:r>
              <a:rPr lang="en-US" altLang="en-US" dirty="0"/>
              <a:t> Insurance Providers</a:t>
            </a:r>
            <a:endParaRPr lang="en-US" altLang="en-US" dirty="0"/>
          </a:p>
          <a:p>
            <a:pPr algn="just">
              <a:lnSpc>
                <a:spcPct val="150000"/>
              </a:lnSpc>
            </a:pPr>
            <a:r>
              <a:rPr lang="en-US" altLang="en-US" dirty="0"/>
              <a:t> Agricultural Extension Officers</a:t>
            </a:r>
            <a:endParaRPr lang="en-US" altLang="en-US" dirty="0"/>
          </a:p>
          <a:p>
            <a:pPr algn="just">
              <a:lnSpc>
                <a:spcPct val="150000"/>
              </a:lnSpc>
            </a:pPr>
            <a:r>
              <a:rPr lang="en-US" altLang="en-US" dirty="0"/>
              <a:t>NGOs and Development Organizations</a:t>
            </a:r>
            <a:endParaRPr lang="en-US" altLang="en-US" dirty="0"/>
          </a:p>
          <a:p>
            <a:pPr algn="just">
              <a:lnSpc>
                <a:spcPct val="150000"/>
              </a:lnSpc>
            </a:pPr>
            <a:r>
              <a:rPr lang="en-US" altLang="en-US" dirty="0"/>
              <a:t>Students and Data Analysts </a:t>
            </a:r>
            <a:endParaRPr lang="en-US" altLang="en-US" dirty="0"/>
          </a:p>
        </p:txBody>
      </p:sp>
      <p:sp>
        <p:nvSpPr>
          <p:cNvPr id="4"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p:cNvPicPr>
            <a:picLocks noChangeAspect="1"/>
          </p:cNvPicPr>
          <p:nvPr/>
        </p:nvPicPr>
        <p:blipFill>
          <a:blip r:embed="rId1"/>
          <a:stretch>
            <a:fillRect/>
          </a:stretch>
        </p:blipFill>
        <p:spPr>
          <a:xfrm>
            <a:off x="721359" y="6176804"/>
            <a:ext cx="2181225" cy="485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1325245" y="1339215"/>
            <a:ext cx="8895715" cy="4776470"/>
          </a:xfrm>
        </p:spPr>
        <p:txBody>
          <a:bodyPr>
            <a:noAutofit/>
          </a:bodyPr>
          <a:lstStyle/>
          <a:p>
            <a:pPr lvl="1">
              <a:lnSpc>
                <a:spcPct val="120000"/>
              </a:lnSpc>
            </a:pPr>
            <a:r>
              <a:rPr lang="en-US" altLang="en-US" sz="1800" b="1" dirty="0"/>
              <a:t>Platform:</a:t>
            </a:r>
            <a:r>
              <a:rPr lang="en-US" altLang="en-US" sz="1800" dirty="0"/>
              <a:t> Google Colab </a:t>
            </a:r>
            <a:endParaRPr lang="en-US" altLang="en-US" sz="1800" dirty="0"/>
          </a:p>
          <a:p>
            <a:pPr lvl="1">
              <a:lnSpc>
                <a:spcPct val="120000"/>
              </a:lnSpc>
            </a:pPr>
            <a:r>
              <a:rPr lang="en-US" altLang="en-US" sz="1800" b="1" dirty="0"/>
              <a:t>Programming Language:</a:t>
            </a:r>
            <a:r>
              <a:rPr lang="en-US" altLang="en-US" sz="1800" dirty="0"/>
              <a:t> Python</a:t>
            </a:r>
            <a:endParaRPr lang="en-US" altLang="en-US" sz="1800" dirty="0"/>
          </a:p>
          <a:p>
            <a:pPr lvl="1">
              <a:lnSpc>
                <a:spcPct val="120000"/>
              </a:lnSpc>
            </a:pPr>
            <a:r>
              <a:rPr lang="en-US" altLang="en-US" sz="1800" b="1" dirty="0"/>
              <a:t>Libraries Used:</a:t>
            </a:r>
            <a:endParaRPr lang="en-US" altLang="en-US" sz="1800" b="1" dirty="0"/>
          </a:p>
          <a:p>
            <a:pPr marL="457200" lvl="1" indent="0">
              <a:lnSpc>
                <a:spcPct val="120000"/>
              </a:lnSpc>
              <a:buNone/>
            </a:pPr>
            <a:r>
              <a:rPr lang="en-US" altLang="en-US" sz="1800" dirty="0"/>
              <a:t>    Pandas </a:t>
            </a:r>
            <a:endParaRPr lang="en-US" altLang="en-US" sz="1800" dirty="0"/>
          </a:p>
          <a:p>
            <a:pPr marL="457200" lvl="1" indent="0">
              <a:lnSpc>
                <a:spcPct val="120000"/>
              </a:lnSpc>
              <a:buNone/>
            </a:pPr>
            <a:r>
              <a:rPr lang="en-US" altLang="en-US" sz="1800" dirty="0"/>
              <a:t>   NumPy </a:t>
            </a:r>
            <a:endParaRPr lang="en-US" altLang="en-US" sz="1800" dirty="0"/>
          </a:p>
          <a:p>
            <a:pPr marL="457200" lvl="1" indent="0">
              <a:lnSpc>
                <a:spcPct val="120000"/>
              </a:lnSpc>
              <a:buNone/>
            </a:pPr>
            <a:r>
              <a:rPr lang="en-US" altLang="en-US" sz="1800" dirty="0"/>
              <a:t>   Matplotlib </a:t>
            </a:r>
            <a:endParaRPr lang="en-US" altLang="en-US" sz="1800" dirty="0"/>
          </a:p>
          <a:p>
            <a:pPr marL="457200" lvl="1" indent="0">
              <a:lnSpc>
                <a:spcPct val="120000"/>
              </a:lnSpc>
              <a:buNone/>
            </a:pPr>
            <a:r>
              <a:rPr lang="en-US" altLang="en-US" sz="1800" dirty="0"/>
              <a:t>   Seaborn </a:t>
            </a:r>
            <a:endParaRPr lang="en-US" altLang="en-US" sz="1800" dirty="0"/>
          </a:p>
          <a:p>
            <a:pPr lvl="1">
              <a:lnSpc>
                <a:spcPct val="120000"/>
              </a:lnSpc>
            </a:pPr>
            <a:r>
              <a:rPr lang="en-US" altLang="en-US" sz="1800" b="1" dirty="0"/>
              <a:t>Dataset Format: </a:t>
            </a:r>
            <a:r>
              <a:rPr lang="en-US" altLang="en-US" sz="1800" dirty="0"/>
              <a:t>CSV</a:t>
            </a:r>
            <a:endParaRPr lang="en-US" altLang="en-US" sz="1800" dirty="0"/>
          </a:p>
          <a:p>
            <a:pPr lvl="1">
              <a:lnSpc>
                <a:spcPct val="120000"/>
              </a:lnSpc>
            </a:pPr>
            <a:r>
              <a:rPr lang="en-US" altLang="en-US" sz="1800" b="1" dirty="0"/>
              <a:t>Storage:</a:t>
            </a:r>
            <a:r>
              <a:rPr lang="en-US" altLang="en-US" sz="1800" dirty="0"/>
              <a:t> Google Drive</a:t>
            </a:r>
            <a:endParaRPr lang="en-US" altLang="en-US" sz="1800" dirty="0"/>
          </a:p>
          <a:p>
            <a:pPr lvl="1">
              <a:lnSpc>
                <a:spcPct val="120000"/>
              </a:lnSpc>
            </a:pPr>
            <a:r>
              <a:rPr lang="en-US" altLang="en-US" sz="1800" b="1" dirty="0"/>
              <a:t>Documentation: </a:t>
            </a:r>
            <a:r>
              <a:rPr lang="en-US" altLang="en-US" sz="1800" dirty="0"/>
              <a:t>Jupyter Notebook (.ipynb)</a:t>
            </a:r>
            <a:endParaRPr lang="en-US" altLang="en-US" sz="1800" dirty="0"/>
          </a:p>
        </p:txBody>
      </p:sp>
      <p:sp>
        <p:nvSpPr>
          <p:cNvPr id="9" name="Title 8"/>
          <p:cNvSpPr>
            <a:spLocks noGrp="1"/>
          </p:cNvSpPr>
          <p:nvPr>
            <p:ph type="title"/>
          </p:nvPr>
        </p:nvSpPr>
        <p:spPr>
          <a:xfrm>
            <a:off x="1635759" y="288327"/>
            <a:ext cx="5306291" cy="847817"/>
          </a:xfrm>
        </p:spPr>
        <p:txBody>
          <a:bodyPr>
            <a:normAutofit/>
          </a:bodyPr>
          <a:lstStyle/>
          <a:p>
            <a:r>
              <a:rPr lang="en-US" dirty="0"/>
              <a:t>Technology Used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fade">
                                      <p:cBhvr>
                                        <p:cTn id="54" dur="1000"/>
                                        <p:tgtEl>
                                          <p:spTgt spid="7">
                                            <p:txEl>
                                              <p:pRg st="8" end="8"/>
                                            </p:txEl>
                                          </p:spTgt>
                                        </p:tgtEl>
                                      </p:cBhvr>
                                    </p:animEffect>
                                    <p:anim calcmode="lin" valueType="num">
                                      <p:cBhvr>
                                        <p:cTn id="5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7">
                                            <p:txEl>
                                              <p:pRg st="9" end="9"/>
                                            </p:txEl>
                                          </p:spTgt>
                                        </p:tgtEl>
                                        <p:attrNameLst>
                                          <p:attrName>style.visibility</p:attrName>
                                        </p:attrNameLst>
                                      </p:cBhvr>
                                      <p:to>
                                        <p:strVal val="visible"/>
                                      </p:to>
                                    </p:set>
                                    <p:animEffect transition="in" filter="fade">
                                      <p:cBhvr>
                                        <p:cTn id="59" dur="1000"/>
                                        <p:tgtEl>
                                          <p:spTgt spid="7">
                                            <p:txEl>
                                              <p:pRg st="9" end="9"/>
                                            </p:txEl>
                                          </p:spTgt>
                                        </p:tgtEl>
                                      </p:cBhvr>
                                    </p:animEffect>
                                    <p:anim calcmode="lin" valueType="num">
                                      <p:cBhvr>
                                        <p:cTn id="6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793432" y="19024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Screenshot 2026-09-10 005851"/>
          <p:cNvPicPr>
            <a:picLocks noChangeAspect="1"/>
          </p:cNvPicPr>
          <p:nvPr/>
        </p:nvPicPr>
        <p:blipFill>
          <a:blip r:embed="rId2"/>
          <a:stretch>
            <a:fillRect/>
          </a:stretch>
        </p:blipFill>
        <p:spPr>
          <a:xfrm>
            <a:off x="5488305" y="1181735"/>
            <a:ext cx="5719445" cy="4386580"/>
          </a:xfrm>
          <a:prstGeom prst="rect">
            <a:avLst/>
          </a:prstGeom>
        </p:spPr>
      </p:pic>
      <p:sp>
        <p:nvSpPr>
          <p:cNvPr id="9" name="Text Box 8"/>
          <p:cNvSpPr txBox="1"/>
          <p:nvPr/>
        </p:nvSpPr>
        <p:spPr>
          <a:xfrm>
            <a:off x="320675" y="1275080"/>
            <a:ext cx="5080000" cy="4495165"/>
          </a:xfrm>
          <a:prstGeom prst="rect">
            <a:avLst/>
          </a:prstGeom>
        </p:spPr>
        <p:txBody>
          <a:bodyPr>
            <a:noAutofit/>
          </a:bodyPr>
          <a:p>
            <a:pPr marL="0" indent="0">
              <a:spcBef>
                <a:spcPct val="0"/>
              </a:spcBef>
              <a:spcAft>
                <a:spcPct val="0"/>
              </a:spcAft>
            </a:pPr>
            <a:r>
              <a:rPr sz="1600" b="1">
                <a:latin typeface="Arial" panose="020B0604020202020204" pitchFamily="34" charset="0"/>
                <a:ea typeface="Google Sans"/>
                <a:cs typeface="Arial" panose="020B0604020202020204" pitchFamily="34" charset="0"/>
              </a:rPr>
              <a:t>Consistent Growth:</a:t>
            </a:r>
            <a:r>
              <a:rPr sz="1600" b="0">
                <a:latin typeface="Arial" panose="020B0604020202020204" pitchFamily="34" charset="0"/>
                <a:ea typeface="Google Sans"/>
                <a:cs typeface="Arial" panose="020B0604020202020204" pitchFamily="34" charset="0"/>
              </a:rPr>
              <a:t> The blue boxes at the bottom are completely flat. This tells us that for most regular farms, crop growth stays very steady, predictable, and safe across all three seasons.</a:t>
            </a: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1">
                <a:latin typeface="Arial" panose="020B0604020202020204" pitchFamily="34" charset="0"/>
                <a:ea typeface="Google Sans"/>
                <a:cs typeface="Arial" panose="020B0604020202020204" pitchFamily="34" charset="0"/>
              </a:rPr>
              <a:t>High-Risk, High-Reward:</a:t>
            </a:r>
            <a:r>
              <a:rPr sz="1600" b="0">
                <a:latin typeface="Arial" panose="020B0604020202020204" pitchFamily="34" charset="0"/>
                <a:ea typeface="Google Sans"/>
                <a:cs typeface="Arial" panose="020B0604020202020204" pitchFamily="34" charset="0"/>
              </a:rPr>
              <a:t> The long vertical trails of circles in the Kharif and Rabi seasons show a lot of volatility. It is a gamble—some farms hit a massive jackpot harvest, while others are stuck at a basic average.</a:t>
            </a: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1">
                <a:latin typeface="Arial" panose="020B0604020202020204" pitchFamily="34" charset="0"/>
                <a:ea typeface="Google Sans"/>
                <a:cs typeface="Arial" panose="020B0604020202020204" pitchFamily="34" charset="0"/>
              </a:rPr>
              <a:t>Natural Weather Ceiling:</a:t>
            </a:r>
            <a:r>
              <a:rPr sz="1600" b="0">
                <a:latin typeface="Arial" panose="020B0604020202020204" pitchFamily="34" charset="0"/>
                <a:ea typeface="Google Sans"/>
                <a:cs typeface="Arial" panose="020B0604020202020204" pitchFamily="34" charset="0"/>
              </a:rPr>
              <a:t> The Zaid season has the shortest line of data points. This proves that the extreme summer heat creates a strict barrier, stopping crops from producing past a certain point no matter what the farmer tries.</a:t>
            </a:r>
            <a:endParaRPr sz="1600" b="0">
              <a:latin typeface="Arial" panose="020B0604020202020204" pitchFamily="34" charset="0"/>
              <a:ea typeface="Google Sans"/>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559435" y="1590040"/>
            <a:ext cx="4821555" cy="3893820"/>
          </a:xfrm>
          <a:prstGeom prst="rect">
            <a:avLst/>
          </a:prstGeom>
        </p:spPr>
        <p:txBody>
          <a:bodyPr>
            <a:noAutofit/>
          </a:bodyPr>
          <a:p>
            <a:pPr marL="0" indent="0">
              <a:spcBef>
                <a:spcPct val="0"/>
              </a:spcBef>
              <a:spcAft>
                <a:spcPct val="0"/>
              </a:spcAft>
              <a:buFont typeface="Arial" panose="020B0604020202020204"/>
              <a:buChar char="•"/>
            </a:pPr>
            <a:r>
              <a:rPr sz="1600" b="1">
                <a:latin typeface="Arial" panose="020B0604020202020204" pitchFamily="34" charset="0"/>
                <a:ea typeface="Google Sans"/>
                <a:cs typeface="Arial" panose="020B0604020202020204" pitchFamily="34" charset="0"/>
              </a:rPr>
              <a:t>High Risk of High Expenses:</a:t>
            </a:r>
            <a:r>
              <a:rPr sz="1600" b="0">
                <a:latin typeface="Arial" panose="020B0604020202020204" pitchFamily="34" charset="0"/>
                <a:ea typeface="Google Sans"/>
                <a:cs typeface="Arial" panose="020B0604020202020204" pitchFamily="34" charset="0"/>
              </a:rPr>
              <a:t> the dots are scattered everywhere instead of forming a clean line. This proves a huge risk growing a massive amount of crops does not guarantee a high profit. If operational costs (like seeds, labor, or water) spike during that season, the expenses can wipe out the money from a great harvest.</a:t>
            </a: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1">
                <a:latin typeface="Arial" panose="020B0604020202020204" pitchFamily="34" charset="0"/>
                <a:ea typeface="Google Sans"/>
                <a:cs typeface="Arial" panose="020B0604020202020204" pitchFamily="34" charset="0"/>
              </a:rPr>
              <a:t>Consistency of Scale:</a:t>
            </a:r>
            <a:r>
              <a:rPr sz="1600" b="0">
                <a:latin typeface="Arial" panose="020B0604020202020204" pitchFamily="34" charset="0"/>
                <a:ea typeface="Google Sans"/>
                <a:cs typeface="Arial" panose="020B0604020202020204" pitchFamily="34" charset="0"/>
              </a:rPr>
              <a:t> This</a:t>
            </a:r>
            <a:r>
              <a:rPr lang="en-US" sz="1600" b="0">
                <a:latin typeface="Arial" panose="020B0604020202020204" pitchFamily="34" charset="0"/>
                <a:ea typeface="Google Sans"/>
                <a:cs typeface="Arial" panose="020B0604020202020204" pitchFamily="34" charset="0"/>
              </a:rPr>
              <a:t> graph </a:t>
            </a:r>
            <a:r>
              <a:rPr sz="1600" b="0">
                <a:latin typeface="Arial" panose="020B0604020202020204" pitchFamily="34" charset="0"/>
                <a:ea typeface="Google Sans"/>
                <a:cs typeface="Arial" panose="020B0604020202020204" pitchFamily="34" charset="0"/>
              </a:rPr>
              <a:t> shows that large farm sizes have a highly consistent advantage; they can handle seasonal price risks much better than small farms and secure the highest profit brackets.</a:t>
            </a:r>
            <a:endParaRPr sz="1600" b="0">
              <a:latin typeface="Arial" panose="020B0604020202020204" pitchFamily="34" charset="0"/>
              <a:ea typeface="Google Sans"/>
              <a:cs typeface="Arial" panose="020B0604020202020204" pitchFamily="34" charset="0"/>
            </a:endParaRPr>
          </a:p>
        </p:txBody>
      </p:sp>
      <p:pic>
        <p:nvPicPr>
          <p:cNvPr id="6" name="Picture 5"/>
          <p:cNvPicPr/>
          <p:nvPr/>
        </p:nvPicPr>
        <p:blipFill>
          <a:blip r:embed="rId1"/>
          <a:stretch>
            <a:fillRect/>
          </a:stretch>
        </p:blipFill>
        <p:spPr>
          <a:xfrm>
            <a:off x="6096000" y="3429000"/>
            <a:ext cx="0" cy="0"/>
          </a:xfrm>
          <a:prstGeom prst="rect">
            <a:avLst/>
          </a:prstGeom>
        </p:spPr>
      </p:pic>
      <p:pic>
        <p:nvPicPr>
          <p:cNvPr id="9" name="Picture 8"/>
          <p:cNvPicPr/>
          <p:nvPr/>
        </p:nvPicPr>
        <p:blipFill>
          <a:blip r:embed="rId1"/>
          <a:stretch>
            <a:fillRect/>
          </a:stretch>
        </p:blipFill>
        <p:spPr>
          <a:xfrm>
            <a:off x="6096000" y="3429000"/>
            <a:ext cx="0" cy="0"/>
          </a:xfrm>
          <a:prstGeom prst="rect">
            <a:avLst/>
          </a:prstGeom>
        </p:spPr>
      </p:pic>
      <p:pic>
        <p:nvPicPr>
          <p:cNvPr id="11" name="Picture 10" descr="Screenshot 2026-09-10 012558"/>
          <p:cNvPicPr>
            <a:picLocks noChangeAspect="1"/>
          </p:cNvPicPr>
          <p:nvPr/>
        </p:nvPicPr>
        <p:blipFill>
          <a:blip r:embed="rId2"/>
          <a:stretch>
            <a:fillRect/>
          </a:stretch>
        </p:blipFill>
        <p:spPr>
          <a:xfrm>
            <a:off x="5887085" y="1590040"/>
            <a:ext cx="5561330" cy="35318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675640" y="1536700"/>
            <a:ext cx="5136515" cy="4607560"/>
          </a:xfrm>
          <a:prstGeom prst="rect">
            <a:avLst/>
          </a:prstGeom>
        </p:spPr>
        <p:txBody>
          <a:bodyPr>
            <a:noAutofit/>
          </a:bodyPr>
          <a:p>
            <a:pPr marL="0" indent="0">
              <a:spcBef>
                <a:spcPct val="0"/>
              </a:spcBef>
              <a:spcAft>
                <a:spcPct val="0"/>
              </a:spcAft>
            </a:pPr>
            <a:r>
              <a:rPr sz="1600" b="0">
                <a:latin typeface="Arial" panose="020B0604020202020204" pitchFamily="34" charset="0"/>
                <a:ea typeface="Google Sans"/>
                <a:cs typeface="Arial" panose="020B0604020202020204" pitchFamily="34" charset="0"/>
              </a:rPr>
              <a:t> The data clearly shows that water and crop weight move together. If you want a massive harvest, you must have a reliable, steady watering system. Without enough water, your crop volume simply will not grow.</a:t>
            </a: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0">
                <a:latin typeface="Arial" panose="020B0604020202020204" pitchFamily="34" charset="0"/>
                <a:ea typeface="Google Sans"/>
                <a:cs typeface="Arial" panose="020B0604020202020204" pitchFamily="34" charset="0"/>
              </a:rPr>
              <a:t> Making your farm too huge actually makes it slightly less efficient. The numbers show that when a farm gets too big, it becomes much harder to manage, and you end up wasting water and resources instead of saving them.</a:t>
            </a: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0">
                <a:latin typeface="Arial" panose="020B0604020202020204" pitchFamily="34" charset="0"/>
                <a:ea typeface="Google Sans"/>
                <a:cs typeface="Arial" panose="020B0604020202020204" pitchFamily="34" charset="0"/>
              </a:rPr>
              <a:t> To make a real profit, keeping your daily costs low and picking high-value crops is far more important than just trying to grow a massive amount of crops. High yield means nothing if your bills eat up all your cash.</a:t>
            </a:r>
            <a:endParaRPr sz="1600" b="0">
              <a:latin typeface="Arial" panose="020B0604020202020204" pitchFamily="34" charset="0"/>
              <a:ea typeface="Google Sans"/>
              <a:cs typeface="Arial" panose="020B0604020202020204" pitchFamily="34" charset="0"/>
            </a:endParaRPr>
          </a:p>
        </p:txBody>
      </p:sp>
      <p:pic>
        <p:nvPicPr>
          <p:cNvPr id="6" name="Picture 5" descr="点"/>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320675" y="1398905"/>
            <a:ext cx="542925" cy="542925"/>
          </a:xfrm>
          <a:prstGeom prst="rect">
            <a:avLst/>
          </a:prstGeom>
        </p:spPr>
      </p:pic>
      <p:pic>
        <p:nvPicPr>
          <p:cNvPr id="9" name="Picture 8" descr="点"/>
          <p:cNvPicPr>
            <a:picLocks noChangeAspect="1"/>
          </p:cNvPicPr>
          <p:nvPr>
            <p:custDataLst>
              <p:tags r:id="rId5"/>
            </p:custDataLst>
          </p:nvPr>
        </p:nvPicPr>
        <p:blipFill>
          <a:blip r:embed="rId3">
            <a:extLst>
              <a:ext uri="{96DAC541-7B7A-43D3-8B79-37D633B846F1}">
                <asvg:svgBlip xmlns:asvg="http://schemas.microsoft.com/office/drawing/2016/SVG/main" r:embed="rId4"/>
              </a:ext>
            </a:extLst>
          </a:blip>
          <a:stretch>
            <a:fillRect/>
          </a:stretch>
        </p:blipFill>
        <p:spPr>
          <a:xfrm>
            <a:off x="320675" y="2870200"/>
            <a:ext cx="542925" cy="542925"/>
          </a:xfrm>
          <a:prstGeom prst="rect">
            <a:avLst/>
          </a:prstGeom>
        </p:spPr>
      </p:pic>
      <p:pic>
        <p:nvPicPr>
          <p:cNvPr id="11" name="Picture 10" descr="点"/>
          <p:cNvPicPr>
            <a:picLocks noChangeAspect="1"/>
          </p:cNvPicPr>
          <p:nvPr>
            <p:custDataLst>
              <p:tags r:id="rId6"/>
            </p:custDataLst>
          </p:nvPr>
        </p:nvPicPr>
        <p:blipFill>
          <a:blip r:embed="rId3">
            <a:extLst>
              <a:ext uri="{96DAC541-7B7A-43D3-8B79-37D633B846F1}">
                <asvg:svgBlip xmlns:asvg="http://schemas.microsoft.com/office/drawing/2016/SVG/main" r:embed="rId4"/>
              </a:ext>
            </a:extLst>
          </a:blip>
          <a:stretch>
            <a:fillRect/>
          </a:stretch>
        </p:blipFill>
        <p:spPr>
          <a:xfrm>
            <a:off x="320675" y="4341495"/>
            <a:ext cx="542925" cy="542925"/>
          </a:xfrm>
          <a:prstGeom prst="rect">
            <a:avLst/>
          </a:prstGeom>
        </p:spPr>
      </p:pic>
      <p:pic>
        <p:nvPicPr>
          <p:cNvPr id="12" name="Picture 11" descr="Screenshot 2026-09-10 013726"/>
          <p:cNvPicPr>
            <a:picLocks noChangeAspect="1"/>
          </p:cNvPicPr>
          <p:nvPr/>
        </p:nvPicPr>
        <p:blipFill>
          <a:blip r:embed="rId7"/>
          <a:stretch>
            <a:fillRect/>
          </a:stretch>
        </p:blipFill>
        <p:spPr>
          <a:xfrm>
            <a:off x="5812155" y="1201420"/>
            <a:ext cx="5652770" cy="42030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2"/>
          <a:stretch>
            <a:fillRect/>
          </a:stretch>
        </p:blipFill>
        <p:spPr>
          <a:xfrm>
            <a:off x="5247640" y="1275080"/>
            <a:ext cx="5506085" cy="4945380"/>
          </a:xfrm>
          <a:prstGeom prst="rect">
            <a:avLst/>
          </a:prstGeom>
        </p:spPr>
      </p:pic>
      <p:sp>
        <p:nvSpPr>
          <p:cNvPr id="6" name="Text Box 5"/>
          <p:cNvSpPr txBox="1"/>
          <p:nvPr/>
        </p:nvSpPr>
        <p:spPr>
          <a:xfrm>
            <a:off x="550545" y="1275080"/>
            <a:ext cx="4573905" cy="4769485"/>
          </a:xfrm>
          <a:prstGeom prst="rect">
            <a:avLst/>
          </a:prstGeom>
        </p:spPr>
        <p:txBody>
          <a:bodyPr wrap="square">
            <a:spAutoFit/>
          </a:bodyPr>
          <a:p>
            <a:pPr marL="0" indent="0">
              <a:spcBef>
                <a:spcPct val="0"/>
              </a:spcBef>
              <a:spcAft>
                <a:spcPct val="0"/>
              </a:spcAft>
            </a:pPr>
            <a:r>
              <a:rPr sz="1600" b="0">
                <a:latin typeface="Arial" panose="020B0604020202020204" pitchFamily="34" charset="0"/>
                <a:ea typeface="Google Sans"/>
                <a:cs typeface="Arial" panose="020B0604020202020204" pitchFamily="34" charset="0"/>
              </a:rPr>
              <a:t>The blue and orange bars are huge. Kharif brings in the highest amount of food (over </a:t>
            </a:r>
            <a:r>
              <a:rPr sz="1600" b="1">
                <a:latin typeface="Arial" panose="020B0604020202020204" pitchFamily="34" charset="0"/>
                <a:ea typeface="Google Sans"/>
                <a:cs typeface="Arial" panose="020B0604020202020204" pitchFamily="34" charset="0"/>
              </a:rPr>
              <a:t>80,000 tonnes</a:t>
            </a:r>
            <a:r>
              <a:rPr sz="1600" b="0">
                <a:latin typeface="Arial" panose="020B0604020202020204" pitchFamily="34" charset="0"/>
                <a:ea typeface="Google Sans"/>
                <a:cs typeface="Arial" panose="020B0604020202020204" pitchFamily="34" charset="0"/>
              </a:rPr>
              <a:t>), and Rabi follows closely behind (around </a:t>
            </a:r>
            <a:r>
              <a:rPr sz="1600" b="1">
                <a:latin typeface="Arial" panose="020B0604020202020204" pitchFamily="34" charset="0"/>
                <a:ea typeface="Google Sans"/>
                <a:cs typeface="Arial" panose="020B0604020202020204" pitchFamily="34" charset="0"/>
              </a:rPr>
              <a:t>67,000 tonnes</a:t>
            </a:r>
            <a:r>
              <a:rPr sz="1600" b="0">
                <a:latin typeface="Arial" panose="020B0604020202020204" pitchFamily="34" charset="0"/>
                <a:ea typeface="Google Sans"/>
                <a:cs typeface="Arial" panose="020B0604020202020204" pitchFamily="34" charset="0"/>
              </a:rPr>
              <a:t>). These two seasons are the backbone of your yearly supply and income.</a:t>
            </a: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0">
                <a:latin typeface="Arial" panose="020B0604020202020204" pitchFamily="34" charset="0"/>
                <a:ea typeface="Google Sans"/>
                <a:cs typeface="Arial" panose="020B0604020202020204" pitchFamily="34" charset="0"/>
              </a:rPr>
              <a:t>The green bar for Zaid drops down drastically to just </a:t>
            </a:r>
            <a:r>
              <a:rPr sz="1600" b="1">
                <a:latin typeface="Arial" panose="020B0604020202020204" pitchFamily="34" charset="0"/>
                <a:ea typeface="Google Sans"/>
                <a:cs typeface="Arial" panose="020B0604020202020204" pitchFamily="34" charset="0"/>
              </a:rPr>
              <a:t>23,000 tonnes</a:t>
            </a:r>
            <a:r>
              <a:rPr sz="1600" b="0">
                <a:latin typeface="Arial" panose="020B0604020202020204" pitchFamily="34" charset="0"/>
                <a:ea typeface="Google Sans"/>
                <a:cs typeface="Arial" panose="020B0604020202020204" pitchFamily="34" charset="0"/>
              </a:rPr>
              <a:t>. This is a huge warning sign: trying to push for a heavy harvest during the hot summer months is incredibly difficult and wasteful, mostly because the intense heat and dropping water levels fight against your crops.</a:t>
            </a: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0">
                <a:latin typeface="Arial" panose="020B0604020202020204" pitchFamily="34" charset="0"/>
                <a:ea typeface="Google Sans"/>
                <a:cs typeface="Arial" panose="020B0604020202020204" pitchFamily="34" charset="0"/>
              </a:rPr>
              <a:t> Because almost all your crops grow during just the Kharif and Rabi windows, your farm's survival is highly exposed to bad weather risks. If a severe monsoon fails during Kharif, or a winter drought hits your Rabi crops, it will wipe out the entire year’s food supply and income.</a:t>
            </a:r>
            <a:endParaRPr sz="1600" b="0">
              <a:latin typeface="Arial" panose="020B0604020202020204" pitchFamily="34" charset="0"/>
              <a:ea typeface="Google Sans"/>
              <a:cs typeface="Arial" panose="020B0604020202020204" pitchFamily="34" charset="0"/>
            </a:endParaRPr>
          </a:p>
        </p:txBody>
      </p:sp>
      <p:pic>
        <p:nvPicPr>
          <p:cNvPr id="9" name="Picture 8" descr="点"/>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320675" y="4322445"/>
            <a:ext cx="542925" cy="542925"/>
          </a:xfrm>
          <a:prstGeom prst="rect">
            <a:avLst/>
          </a:prstGeom>
        </p:spPr>
      </p:pic>
      <p:pic>
        <p:nvPicPr>
          <p:cNvPr id="11" name="Picture 10" descr="点"/>
          <p:cNvPicPr>
            <a:picLocks noChangeAspect="1"/>
          </p:cNvPicPr>
          <p:nvPr>
            <p:custDataLst>
              <p:tags r:id="rId6"/>
            </p:custDataLst>
          </p:nvPr>
        </p:nvPicPr>
        <p:blipFill>
          <a:blip r:embed="rId4">
            <a:extLst>
              <a:ext uri="{96DAC541-7B7A-43D3-8B79-37D633B846F1}">
                <asvg:svgBlip xmlns:asvg="http://schemas.microsoft.com/office/drawing/2016/SVG/main" r:embed="rId5"/>
              </a:ext>
            </a:extLst>
          </a:blip>
          <a:stretch>
            <a:fillRect/>
          </a:stretch>
        </p:blipFill>
        <p:spPr>
          <a:xfrm>
            <a:off x="320675" y="2635250"/>
            <a:ext cx="542925" cy="542925"/>
          </a:xfrm>
          <a:prstGeom prst="rect">
            <a:avLst/>
          </a:prstGeom>
        </p:spPr>
      </p:pic>
      <p:pic>
        <p:nvPicPr>
          <p:cNvPr id="12" name="Picture 11" descr="点"/>
          <p:cNvPicPr>
            <a:picLocks noChangeAspect="1"/>
          </p:cNvPicPr>
          <p:nvPr>
            <p:custDataLst>
              <p:tags r:id="rId7"/>
            </p:custDataLst>
          </p:nvPr>
        </p:nvPicPr>
        <p:blipFill>
          <a:blip r:embed="rId4">
            <a:extLst>
              <a:ext uri="{96DAC541-7B7A-43D3-8B79-37D633B846F1}">
                <asvg:svgBlip xmlns:asvg="http://schemas.microsoft.com/office/drawing/2016/SVG/main" r:embed="rId5"/>
              </a:ext>
            </a:extLst>
          </a:blip>
          <a:stretch>
            <a:fillRect/>
          </a:stretch>
        </p:blipFill>
        <p:spPr>
          <a:xfrm>
            <a:off x="320675" y="1201420"/>
            <a:ext cx="542925" cy="5429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2"/>
          <a:stretch>
            <a:fillRect/>
          </a:stretch>
        </p:blipFill>
        <p:spPr>
          <a:xfrm>
            <a:off x="5645785" y="1431925"/>
            <a:ext cx="5525135" cy="3950970"/>
          </a:xfrm>
          <a:prstGeom prst="rect">
            <a:avLst/>
          </a:prstGeom>
        </p:spPr>
      </p:pic>
      <p:sp>
        <p:nvSpPr>
          <p:cNvPr id="6" name="Text Box 5"/>
          <p:cNvSpPr txBox="1"/>
          <p:nvPr/>
        </p:nvSpPr>
        <p:spPr>
          <a:xfrm>
            <a:off x="675640" y="1275080"/>
            <a:ext cx="4472940" cy="4276725"/>
          </a:xfrm>
          <a:prstGeom prst="rect">
            <a:avLst/>
          </a:prstGeom>
        </p:spPr>
        <p:txBody>
          <a:bodyPr wrap="square">
            <a:spAutoFit/>
          </a:bodyPr>
          <a:p>
            <a:pPr marL="0" indent="0">
              <a:spcBef>
                <a:spcPct val="0"/>
              </a:spcBef>
              <a:spcAft>
                <a:spcPct val="0"/>
              </a:spcAft>
              <a:buFont typeface="Arial" panose="020B0604020202020204"/>
              <a:buChar char="•"/>
            </a:pPr>
            <a:r>
              <a:rPr sz="1600" b="1">
                <a:latin typeface="Arial" panose="020B0604020202020204" pitchFamily="34" charset="0"/>
                <a:ea typeface="Google Sans"/>
                <a:cs typeface="Arial" panose="020B0604020202020204" pitchFamily="34" charset="0"/>
              </a:rPr>
              <a:t>Sugarcane</a:t>
            </a:r>
            <a:r>
              <a:rPr sz="1600" b="0">
                <a:latin typeface="Arial" panose="020B0604020202020204" pitchFamily="34" charset="0"/>
                <a:ea typeface="Google Sans"/>
                <a:cs typeface="Arial" panose="020B0604020202020204" pitchFamily="34" charset="0"/>
              </a:rPr>
              <a:t> is your highest profit engine , closely followed by </a:t>
            </a:r>
            <a:r>
              <a:rPr sz="1600" b="1">
                <a:latin typeface="Arial" panose="020B0604020202020204" pitchFamily="34" charset="0"/>
                <a:ea typeface="Google Sans"/>
                <a:cs typeface="Arial" panose="020B0604020202020204" pitchFamily="34" charset="0"/>
              </a:rPr>
              <a:t>Chilli</a:t>
            </a:r>
            <a:r>
              <a:rPr sz="1600" b="0">
                <a:latin typeface="Arial" panose="020B0604020202020204" pitchFamily="34" charset="0"/>
                <a:ea typeface="Google Sans"/>
                <a:cs typeface="Arial" panose="020B0604020202020204" pitchFamily="34" charset="0"/>
              </a:rPr>
              <a:t> ). These are the absolute best crops to grow if you want to maximize your household income.</a:t>
            </a: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0">
                <a:latin typeface="Arial" panose="020B0604020202020204" pitchFamily="34" charset="0"/>
                <a:ea typeface="Google Sans"/>
                <a:cs typeface="Arial" panose="020B0604020202020204" pitchFamily="34" charset="0"/>
              </a:rPr>
              <a:t> Major regional crops like </a:t>
            </a:r>
            <a:r>
              <a:rPr sz="1600" b="1">
                <a:latin typeface="Arial" panose="020B0604020202020204" pitchFamily="34" charset="0"/>
                <a:ea typeface="Google Sans"/>
                <a:cs typeface="Arial" panose="020B0604020202020204" pitchFamily="34" charset="0"/>
              </a:rPr>
              <a:t>Maize, Rice, and Wheat</a:t>
            </a:r>
            <a:r>
              <a:rPr sz="1600" b="0">
                <a:latin typeface="Arial" panose="020B0604020202020204" pitchFamily="34" charset="0"/>
                <a:ea typeface="Google Sans"/>
                <a:cs typeface="Arial" panose="020B0604020202020204" pitchFamily="34" charset="0"/>
              </a:rPr>
              <a:t> are actually sitting below the zero line, showing </a:t>
            </a:r>
            <a:r>
              <a:rPr sz="1600" b="1">
                <a:latin typeface="Arial" panose="020B0604020202020204" pitchFamily="34" charset="0"/>
                <a:ea typeface="Google Sans"/>
                <a:cs typeface="Arial" panose="020B0604020202020204" pitchFamily="34" charset="0"/>
              </a:rPr>
              <a:t>negative average profits</a:t>
            </a:r>
            <a:r>
              <a:rPr sz="1600" b="0">
                <a:latin typeface="Arial" panose="020B0604020202020204" pitchFamily="34" charset="0"/>
                <a:ea typeface="Google Sans"/>
                <a:cs typeface="Arial" panose="020B0604020202020204" pitchFamily="34" charset="0"/>
              </a:rPr>
              <a:t>. Growing these crops without a government subsidy or perfect weather is a massive financial risk that can drain a farm's savings.</a:t>
            </a: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endParaRPr sz="1600" b="0">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0">
                <a:latin typeface="Arial" panose="020B0604020202020204" pitchFamily="34" charset="0"/>
                <a:ea typeface="Google Sans"/>
                <a:cs typeface="Arial" panose="020B0604020202020204" pitchFamily="34" charset="0"/>
              </a:rPr>
              <a:t> The graph proves that crop choice matters way more than farm size. A farmer on a tiny plot growing Sugarcane or Chilli will make far more money than a huge farm growing fields of Wheat or Rice.</a:t>
            </a:r>
            <a:endParaRPr sz="1600" b="0">
              <a:latin typeface="Arial" panose="020B0604020202020204" pitchFamily="34" charset="0"/>
              <a:ea typeface="Google Sans"/>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Future scope</a:t>
            </a:r>
            <a:endParaRPr lang="en-IN" sz="4000" dirty="0"/>
          </a:p>
        </p:txBody>
      </p:sp>
      <p:sp>
        <p:nvSpPr>
          <p:cNvPr id="7" name="Text Placeholder 30"/>
          <p:cNvSpPr txBox="1"/>
          <p:nvPr/>
        </p:nvSpPr>
        <p:spPr>
          <a:xfrm>
            <a:off x="320675" y="1275080"/>
            <a:ext cx="8005445" cy="4739640"/>
          </a:xfrm>
          <a:prstGeom prst="rect">
            <a:avLst/>
          </a:prstGeom>
        </p:spPr>
        <p:txBody>
          <a:bodyPr vert="horz" lIns="91440" tIns="45720" rIns="91440" bIns="45720" rtlCol="0">
            <a:normAutofit fontScale="25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US" altLang="en-US" sz="8000" dirty="0"/>
              <a:t>    If more years of data are added, we can get a better idea of long-term seasonal trends</a:t>
            </a:r>
            <a:endParaRPr lang="en-US" altLang="en-US" sz="8000" dirty="0"/>
          </a:p>
          <a:p>
            <a:r>
              <a:rPr lang="en-US" altLang="en-US" sz="8000" dirty="0"/>
              <a:t>    The same analysis can be done for other regions or states to compare results</a:t>
            </a:r>
            <a:endParaRPr lang="en-US" altLang="en-US" sz="8000" dirty="0"/>
          </a:p>
          <a:p>
            <a:r>
              <a:rPr lang="en-US" altLang="en-US" sz="8000" dirty="0"/>
              <a:t>      In future, machine learning can be used to predict crop yield for upcoming seasons</a:t>
            </a:r>
            <a:endParaRPr lang="en-US" altLang="en-US" sz="8000" dirty="0"/>
          </a:p>
          <a:p>
            <a:r>
              <a:rPr lang="en-US" altLang="en-US" sz="8000" dirty="0"/>
              <a:t>       Adding live weather data would make the analysis more useful and up to date</a:t>
            </a:r>
            <a:endParaRPr lang="en-US" altLang="en-US" sz="8000" dirty="0"/>
          </a:p>
          <a:p>
            <a:r>
              <a:rPr lang="en-US" altLang="en-US" sz="8000" dirty="0"/>
              <a:t>       A simple dashboard could be built so that farmers or officials can easily check seasonal insights</a:t>
            </a:r>
            <a:endParaRPr lang="en-US" altLang="en-US" sz="8000" dirty="0"/>
          </a:p>
          <a:p>
            <a:r>
              <a:rPr lang="en-US" altLang="en-US" sz="8000" dirty="0"/>
              <a:t>       Overall, this kind of analysis can help in planning resources like water, fertilizers, and labor better for future seasons</a:t>
            </a:r>
            <a:endParaRPr lang="en-GB" sz="8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descr="点"/>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475615" y="4785995"/>
            <a:ext cx="560070" cy="695960"/>
          </a:xfrm>
          <a:prstGeom prst="rect">
            <a:avLst/>
          </a:prstGeom>
        </p:spPr>
      </p:pic>
      <p:pic>
        <p:nvPicPr>
          <p:cNvPr id="6" name="Picture 5" descr="点"/>
          <p:cNvPicPr>
            <a:picLocks noChangeAspect="1"/>
          </p:cNvPicPr>
          <p:nvPr>
            <p:custDataLst>
              <p:tags r:id="rId5"/>
            </p:custDataLst>
          </p:nvPr>
        </p:nvPicPr>
        <p:blipFill>
          <a:blip r:embed="rId3">
            <a:extLst>
              <a:ext uri="{96DAC541-7B7A-43D3-8B79-37D633B846F1}">
                <asvg:svgBlip xmlns:asvg="http://schemas.microsoft.com/office/drawing/2016/SVG/main" r:embed="rId4"/>
              </a:ext>
            </a:extLst>
          </a:blip>
          <a:stretch>
            <a:fillRect/>
          </a:stretch>
        </p:blipFill>
        <p:spPr>
          <a:xfrm>
            <a:off x="497840" y="1188720"/>
            <a:ext cx="513080" cy="637540"/>
          </a:xfrm>
          <a:prstGeom prst="rect">
            <a:avLst/>
          </a:prstGeom>
        </p:spPr>
      </p:pic>
      <p:pic>
        <p:nvPicPr>
          <p:cNvPr id="9" name="Picture 8" descr="点"/>
          <p:cNvPicPr>
            <a:picLocks noChangeAspect="1"/>
          </p:cNvPicPr>
          <p:nvPr>
            <p:custDataLst>
              <p:tags r:id="rId6"/>
            </p:custDataLst>
          </p:nvPr>
        </p:nvPicPr>
        <p:blipFill>
          <a:blip r:embed="rId3">
            <a:extLst>
              <a:ext uri="{96DAC541-7B7A-43D3-8B79-37D633B846F1}">
                <asvg:svgBlip xmlns:asvg="http://schemas.microsoft.com/office/drawing/2016/SVG/main" r:embed="rId4"/>
              </a:ext>
            </a:extLst>
          </a:blip>
          <a:stretch>
            <a:fillRect/>
          </a:stretch>
        </p:blipFill>
        <p:spPr>
          <a:xfrm>
            <a:off x="497205" y="4090035"/>
            <a:ext cx="513715" cy="638175"/>
          </a:xfrm>
          <a:prstGeom prst="rect">
            <a:avLst/>
          </a:prstGeom>
        </p:spPr>
      </p:pic>
      <p:pic>
        <p:nvPicPr>
          <p:cNvPr id="10" name="Picture 9" descr="点"/>
          <p:cNvPicPr>
            <a:picLocks noChangeAspect="1"/>
          </p:cNvPicPr>
          <p:nvPr>
            <p:custDataLst>
              <p:tags r:id="rId7"/>
            </p:custDataLst>
          </p:nvPr>
        </p:nvPicPr>
        <p:blipFill>
          <a:blip r:embed="rId3">
            <a:extLst>
              <a:ext uri="{96DAC541-7B7A-43D3-8B79-37D633B846F1}">
                <asvg:svgBlip xmlns:asvg="http://schemas.microsoft.com/office/drawing/2016/SVG/main" r:embed="rId4"/>
              </a:ext>
            </a:extLst>
          </a:blip>
          <a:stretch>
            <a:fillRect/>
          </a:stretch>
        </p:blipFill>
        <p:spPr>
          <a:xfrm>
            <a:off x="461010" y="1889125"/>
            <a:ext cx="531495" cy="660400"/>
          </a:xfrm>
          <a:prstGeom prst="rect">
            <a:avLst/>
          </a:prstGeom>
        </p:spPr>
      </p:pic>
      <p:pic>
        <p:nvPicPr>
          <p:cNvPr id="11" name="Picture 10" descr="点"/>
          <p:cNvPicPr>
            <a:picLocks noChangeAspect="1"/>
          </p:cNvPicPr>
          <p:nvPr>
            <p:custDataLst>
              <p:tags r:id="rId8"/>
            </p:custDataLst>
          </p:nvPr>
        </p:nvPicPr>
        <p:blipFill>
          <a:blip r:embed="rId3">
            <a:extLst>
              <a:ext uri="{96DAC541-7B7A-43D3-8B79-37D633B846F1}">
                <asvg:svgBlip xmlns:asvg="http://schemas.microsoft.com/office/drawing/2016/SVG/main" r:embed="rId4"/>
              </a:ext>
            </a:extLst>
          </a:blip>
          <a:stretch>
            <a:fillRect/>
          </a:stretch>
        </p:blipFill>
        <p:spPr>
          <a:xfrm>
            <a:off x="479425" y="2663190"/>
            <a:ext cx="531495" cy="661035"/>
          </a:xfrm>
          <a:prstGeom prst="rect">
            <a:avLst/>
          </a:prstGeom>
        </p:spPr>
      </p:pic>
      <p:pic>
        <p:nvPicPr>
          <p:cNvPr id="12" name="Picture 11" descr="点"/>
          <p:cNvPicPr>
            <a:picLocks noChangeAspect="1"/>
          </p:cNvPicPr>
          <p:nvPr>
            <p:custDataLst>
              <p:tags r:id="rId9"/>
            </p:custDataLst>
          </p:nvPr>
        </p:nvPicPr>
        <p:blipFill>
          <a:blip r:embed="rId3">
            <a:extLst>
              <a:ext uri="{96DAC541-7B7A-43D3-8B79-37D633B846F1}">
                <asvg:svgBlip xmlns:asvg="http://schemas.microsoft.com/office/drawing/2016/SVG/main" r:embed="rId4"/>
              </a:ext>
            </a:extLst>
          </a:blip>
          <a:stretch>
            <a:fillRect/>
          </a:stretch>
        </p:blipFill>
        <p:spPr>
          <a:xfrm>
            <a:off x="475615" y="3437890"/>
            <a:ext cx="535305" cy="665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1564957" y="921769"/>
            <a:ext cx="4735798" cy="830997"/>
          </a:xfrm>
        </p:spPr>
        <p:txBody>
          <a:bodyPr>
            <a:normAutofit/>
          </a:bodyPr>
          <a:lstStyle/>
          <a:p>
            <a:r>
              <a:rPr lang="en-IN" sz="4000" u="sng" dirty="0"/>
              <a:t>GitHub Link</a:t>
            </a:r>
            <a:endParaRPr lang="en-IN" sz="4000" u="sng"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p:cNvSpPr txBox="1"/>
          <p:nvPr/>
        </p:nvSpPr>
        <p:spPr>
          <a:xfrm>
            <a:off x="1427121" y="2780170"/>
            <a:ext cx="7232875" cy="953135"/>
          </a:xfrm>
          <a:prstGeom prst="rect">
            <a:avLst/>
          </a:prstGeom>
          <a:noFill/>
        </p:spPr>
        <p:txBody>
          <a:bodyPr wrap="square">
            <a:spAutoFit/>
          </a:bodyPr>
          <a:lstStyle/>
          <a:p>
            <a:r>
              <a:rPr lang="en-US" altLang="en-US" sz="2800" dirty="0">
                <a:solidFill>
                  <a:schemeClr val="accent1">
                    <a:lumMod val="75000"/>
                  </a:schemeClr>
                </a:solidFill>
              </a:rPr>
              <a:t>https://github.com/Krishnack12/Seasonal-Agriculture-Performance-Analysis.git</a:t>
            </a:r>
            <a:endParaRPr lang="en-US" altLang="en-US" sz="2800" dirty="0">
              <a:solidFill>
                <a:schemeClr val="accent1">
                  <a:lumMod val="75000"/>
                </a:schemeClr>
              </a:solidFill>
            </a:endParaRPr>
          </a:p>
        </p:txBody>
      </p:sp>
      <p:pic>
        <p:nvPicPr>
          <p:cNvPr id="2" name="Picture 1" descr="点"/>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768350" y="263652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1020127" y="370589"/>
            <a:ext cx="8351388" cy="884658"/>
          </a:xfrm>
        </p:spPr>
        <p:txBody>
          <a:bodyPr>
            <a:normAutofit fontScale="90000"/>
          </a:bodyPr>
          <a:lstStyle/>
          <a:p>
            <a:r>
              <a:rPr lang="en-IN" sz="3200" dirty="0"/>
              <a:t>VOIS Course completion certificate - </a:t>
            </a:r>
            <a:br>
              <a:rPr lang="en-IN" sz="3200" dirty="0"/>
            </a:br>
            <a:r>
              <a:rPr lang="en-IN" sz="3200" dirty="0"/>
              <a:t> </a:t>
            </a:r>
            <a:endParaRPr lang="en-IN" sz="32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a:hlinkClick r:id="" action="ppaction://ole?verb="/>
          </p:cNvPr>
          <p:cNvGraphicFramePr>
            <a:graphicFrameLocks noChangeAspect="1"/>
          </p:cNvGraphicFramePr>
          <p:nvPr/>
        </p:nvGraphicFramePr>
        <p:xfrm>
          <a:off x="1189990" y="1193800"/>
          <a:ext cx="8722360" cy="4781550"/>
        </p:xfrm>
        <a:graphic>
          <a:graphicData uri="http://schemas.openxmlformats.org/presentationml/2006/ole">
            <mc:AlternateContent xmlns:mc="http://schemas.openxmlformats.org/markup-compatibility/2006">
              <mc:Choice xmlns:v="urn:schemas-microsoft-com:vml" Requires="v">
                <p:oleObj spid="_x0000_s1025" name="" r:id="rId2" imgW="12867005" imgH="7545070" progId="Word.Document.12">
                  <p:embed/>
                </p:oleObj>
              </mc:Choice>
              <mc:Fallback>
                <p:oleObj name="" r:id="rId2" imgW="12867005" imgH="7545070" progId="Word.Document.12">
                  <p:embed/>
                  <p:pic>
                    <p:nvPicPr>
                      <p:cNvPr id="0" name="Picture 1024"/>
                      <p:cNvPicPr/>
                      <p:nvPr/>
                    </p:nvPicPr>
                    <p:blipFill>
                      <a:blip r:embed="rId3"/>
                      <a:stretch>
                        <a:fillRect/>
                      </a:stretch>
                    </p:blipFill>
                    <p:spPr>
                      <a:xfrm>
                        <a:off x="1189990" y="1193800"/>
                        <a:ext cx="8722360" cy="47815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508125" y="2305050"/>
            <a:ext cx="8709660" cy="1124585"/>
          </a:xfrm>
          <a:prstGeom prst="rect">
            <a:avLst/>
          </a:prstGeom>
        </p:spPr>
        <p:txBody>
          <a:bodyPr anchor="ctr">
            <a:normAutofit/>
          </a:bodyPr>
          <a:lstStyle/>
          <a:p>
            <a:pPr algn="ctr"/>
            <a:r>
              <a:rPr lang="en-US" sz="4800" b="1" dirty="0">
                <a:solidFill>
                  <a:schemeClr val="tx1"/>
                </a:solidFill>
              </a:rPr>
              <a:t>Thank you</a:t>
            </a:r>
            <a:endParaRPr lang="en-US" sz="4800" b="1" dirty="0">
              <a:solidFill>
                <a:schemeClr val="tx1"/>
              </a:solidFill>
            </a:endParaRP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endParaRPr lang="en-US" dirty="0"/>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ags/tag1.xml><?xml version="1.0" encoding="utf-8"?>
<p:tagLst xmlns:p="http://schemas.openxmlformats.org/presentationml/2006/main">
  <p:tag name="KSO_DOCER_RESOURCE_TRACE_INFO" val="{&quot;id&quot;:&quot;50062604&quot;,&quot;origin&quot;:0,&quot;type&quot;:&quot;icons&quot;,&quot;user&quot;:&quot;567505575558&quot;}"/>
</p:tagLst>
</file>

<file path=ppt/tags/tag2.xml><?xml version="1.0" encoding="utf-8"?>
<p:tagLst xmlns:p="http://schemas.openxmlformats.org/presentationml/2006/main">
  <p:tag name="KSO_DOCER_RESOURCE_TRACE_INFO" val="{&quot;id&quot;:&quot;50062604&quot;,&quot;origin&quot;:0,&quot;type&quot;:&quot;icons&quot;,&quot;user&quot;:&quot;567505575558&quot;}"/>
</p:tagLst>
</file>

<file path=ppt/tags/tag3.xml><?xml version="1.0" encoding="utf-8"?>
<p:tagLst xmlns:p="http://schemas.openxmlformats.org/presentationml/2006/main">
  <p:tag name="KSO_DOCER_RESOURCE_TRACE_INFO" val="{&quot;id&quot;:&quot;50062604&quot;,&quot;origin&quot;:0,&quot;type&quot;:&quot;icons&quot;,&quot;user&quot;:&quot;567505575558&quot;}"/>
</p:tagLst>
</file>

<file path=ppt/tags/tag4.xml><?xml version="1.0" encoding="utf-8"?>
<p:tagLst xmlns:p="http://schemas.openxmlformats.org/presentationml/2006/main">
  <p:tag name="KSO_DOCER_RESOURCE_TRACE_INFO" val="{&quot;id&quot;:&quot;50062604&quot;,&quot;origin&quot;:0,&quot;type&quot;:&quot;icons&quot;,&quot;user&quot;:&quot;567505575558&quot;}"/>
</p:tagLst>
</file>

<file path=ppt/tags/tag5.xml><?xml version="1.0" encoding="utf-8"?>
<p:tagLst xmlns:p="http://schemas.openxmlformats.org/presentationml/2006/main">
  <p:tag name="KSO_DOCER_RESOURCE_TRACE_INFO" val="{&quot;id&quot;:&quot;50062604&quot;,&quot;origin&quot;:0,&quot;type&quot;:&quot;icons&quot;,&quot;user&quot;:&quot;567505575558&quot;}"/>
</p:tagLst>
</file>

<file path=ppt/tags/tag6.xml><?xml version="1.0" encoding="utf-8"?>
<p:tagLst xmlns:p="http://schemas.openxmlformats.org/presentationml/2006/main">
  <p:tag name="KSO_DOCER_RESOURCE_TRACE_INFO" val="{&quot;id&quot;:&quot;50062604&quot;,&quot;origin&quot;:0,&quot;type&quot;:&quot;icons&quot;,&quot;user&quot;:&quot;567505575558&quot;}"/>
</p:tagLst>
</file>

<file path=ppt/tags/tag7.xml><?xml version="1.0" encoding="utf-8"?>
<p:tagLst xmlns:p="http://schemas.openxmlformats.org/presentationml/2006/main">
  <p:tag name="KSO_DOCER_RESOURCE_TRACE_INFO" val="{&quot;id&quot;:&quot;50062604&quot;,&quot;origin&quot;:0,&quot;type&quot;:&quot;icons&quot;,&quot;user&quot;:&quot;567505575558&quot;}"/>
</p:tagLst>
</file>

<file path=ppt/tags/tag8.xml><?xml version="1.0" encoding="utf-8"?>
<p:tagLst xmlns:p="http://schemas.openxmlformats.org/presentationml/2006/main">
  <p:tag name="KSO_DOCER_RESOURCE_TRACE_INFO" val="{&quot;id&quot;:&quot;50062604&quot;,&quot;origin&quot;:0,&quot;type&quot;:&quot;icons&quot;,&quot;user&quot;:&quot;567505575558&quot;}"/>
</p:tagLst>
</file>

<file path=ppt/tags/tag9.xml><?xml version="1.0" encoding="utf-8"?>
<p:tagLst xmlns:p="http://schemas.openxmlformats.org/presentationml/2006/main">
  <p:tag name="KSO_DOCER_RESOURCE_TRACE_INFO" val="{&quot;id&quot;:&quot;50062604&quot;,&quot;origin&quot;:0,&quot;type&quot;:&quot;icons&quot;,&quot;user&quot;:&quot;567505575558&quot;}"/>
</p:tagLst>
</file>

<file path=ppt/tags/tag10.xml><?xml version="1.0" encoding="utf-8"?>
<p:tagLst xmlns:p="http://schemas.openxmlformats.org/presentationml/2006/main">
  <p:tag name="KSO_DOCER_RESOURCE_TRACE_INFO" val="{&quot;id&quot;:&quot;50062604&quot;,&quot;origin&quot;:0,&quot;type&quot;:&quot;icons&quot;,&quot;user&quot;:&quot;567505575558&quot;}"/>
</p:tagLst>
</file>

<file path=ppt/tags/tag11.xml><?xml version="1.0" encoding="utf-8"?>
<p:tagLst xmlns:p="http://schemas.openxmlformats.org/presentationml/2006/main">
  <p:tag name="KSO_DOCER_RESOURCE_TRACE_INFO" val="{&quot;id&quot;:&quot;50062604&quot;,&quot;origin&quot;:0,&quot;type&quot;:&quot;icons&quot;,&quot;user&quot;:&quot;567505575558&quot;}"/>
</p:tagLst>
</file>

<file path=ppt/tags/tag12.xml><?xml version="1.0" encoding="utf-8"?>
<p:tagLst xmlns:p="http://schemas.openxmlformats.org/presentationml/2006/main">
  <p:tag name="KSO_DOCER_RESOURCE_TRACE_INFO" val="{&quot;id&quot;:&quot;50062604&quot;,&quot;origin&quot;:0,&quot;type&quot;:&quot;icons&quot;,&quot;user&quot;:&quot;567505575558&quot;}"/>
</p:tagLst>
</file>

<file path=ppt/tags/tag13.xml><?xml version="1.0" encoding="utf-8"?>
<p:tagLst xmlns:p="http://schemas.openxmlformats.org/presentationml/2006/main">
  <p:tag name="KSO_DOCER_RESOURCE_TRACE_INFO" val="{&quot;id&quot;:&quot;50062604&quot;,&quot;origin&quot;:0,&quot;type&quot;:&quot;icons&quot;,&quot;user&quot;:&quot;567505575558&quot;}"/>
</p:tagLst>
</file>

<file path=ppt/tags/tag17.xml><?xml version="1.0" encoding="utf-8"?>
<p:tagLst xmlns:p="http://schemas.openxmlformats.org/presentationml/2006/main">
  <p:tag name="resource_record_key" val="{&quot;10&quot;:[50062604]}"/>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16.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4.xml><?xml version="1.0" encoding="utf-8"?>
<ds:datastoreItem xmlns:ds="http://schemas.openxmlformats.org/officeDocument/2006/customXml" ds:itemID="{B19EB750-A6DA-4BE8-B87B-FC499FE73360}">
  <ds:schemaRefs/>
</ds:datastoreItem>
</file>

<file path=customXml/itemProps15.xml><?xml version="1.0" encoding="utf-8"?>
<ds:datastoreItem xmlns:ds="http://schemas.openxmlformats.org/officeDocument/2006/customXml" ds:itemID="{4DEA9014-ED64-4558-B1E1-D03F0EE32BEB}">
  <ds:schemaRefs/>
</ds:datastoreItem>
</file>

<file path=customXml/itemProps16.xml><?xml version="1.0" encoding="utf-8"?>
<ds:datastoreItem xmlns:ds="http://schemas.openxmlformats.org/officeDocument/2006/customXml" ds:itemID="{05D99ABA-76CE-4A8E-B5F0-C051B96628DE}">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5921</Words>
  <Application>WPS Presentation</Application>
  <PresentationFormat>Widescreen</PresentationFormat>
  <Paragraphs>95</Paragraphs>
  <Slides>14</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14</vt:i4>
      </vt:variant>
    </vt:vector>
  </HeadingPairs>
  <TitlesOfParts>
    <vt:vector size="27" baseType="lpstr">
      <vt:lpstr>Arial</vt:lpstr>
      <vt:lpstr>SimSun</vt:lpstr>
      <vt:lpstr>Wingdings</vt:lpstr>
      <vt:lpstr>Wingdings 3</vt:lpstr>
      <vt:lpstr>Arial</vt:lpstr>
      <vt:lpstr>Calibri</vt:lpstr>
      <vt:lpstr>Google Sans</vt:lpstr>
      <vt:lpstr>Segoe Print</vt:lpstr>
      <vt:lpstr>Trebuchet MS</vt:lpstr>
      <vt:lpstr>Microsoft YaHei</vt:lpstr>
      <vt:lpstr>Arial Unicode MS</vt:lpstr>
      <vt:lpstr>Facet</vt:lpstr>
      <vt:lpstr>Word.Document.12</vt:lpstr>
      <vt:lpstr>Project Title -</vt:lpstr>
      <vt:lpstr>PROBLEM  STATEMENT</vt:lpstr>
      <vt:lpstr>Project Description  The Seasonal Agriculture Performance Analysis project focuses on analyzing agricultural data across different seasons, regions, and farming conditions. The project examines factors such as crop production, resource usage, environmental conditions, and economic performance to understand how they vary across seasons. Using data cleaning, exploratory data analysis, statistical techniques, and visualization, the project identifies important seasonal trends, patterns, relationships, and variations in agricultural performance. The analysis helps generate data-driven insights and recommendations that can support better understanding, planning, and decision-making in seasonal agriculture.</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KRISHNA CHAKRABORTY</cp:lastModifiedBy>
  <cp:revision>101</cp:revision>
  <dcterms:created xsi:type="dcterms:W3CDTF">2021-07-11T13:13:00Z</dcterms:created>
  <dcterms:modified xsi:type="dcterms:W3CDTF">2026-09-10T05:27:03Z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KSOProductBuildVer">
    <vt:lpwstr>1033-12.1.0.28485</vt:lpwstr>
  </property>
  <property fmtid="{D5CDD505-2E9C-101B-9397-08002B2CF9AE}" pid="4" name="ICV">
    <vt:lpwstr>CC96285C6D6C4E04819EDF072BAC71A5_13</vt:lpwstr>
  </property>
</Properties>
</file>